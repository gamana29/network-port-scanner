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1"/>
  </p:notesMasterIdLst>
  <p:handoutMasterIdLst>
    <p:handoutMasterId r:id="rId22"/>
  </p:handoutMasterIdLst>
  <p:sldIdLst>
    <p:sldId id="338" r:id="rId5"/>
    <p:sldId id="327" r:id="rId6"/>
    <p:sldId id="315" r:id="rId7"/>
    <p:sldId id="345" r:id="rId8"/>
    <p:sldId id="329" r:id="rId9"/>
    <p:sldId id="302" r:id="rId10"/>
    <p:sldId id="339" r:id="rId11"/>
    <p:sldId id="346" r:id="rId12"/>
    <p:sldId id="340" r:id="rId13"/>
    <p:sldId id="348" r:id="rId14"/>
    <p:sldId id="347" r:id="rId15"/>
    <p:sldId id="350" r:id="rId16"/>
    <p:sldId id="341" r:id="rId17"/>
    <p:sldId id="342" r:id="rId18"/>
    <p:sldId id="344" r:id="rId19"/>
    <p:sldId id="30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p:scale>
          <a:sx n="50" d="100"/>
          <a:sy n="50" d="100"/>
        </p:scale>
        <p:origin x="1838" y="75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3/31/2026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3/31/2026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6</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3/31/2026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3/31/2026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3/31/2026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3/31/2026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3/31/2026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gamana29/Network-Port-Scanner.git"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gamana29/Network-Port-Scanner.git"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gamana29/Network-Port-Scanner.git"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gamana29/Network-Port-Scanner.git"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gamana29/Network-Port-Scanner.git"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gamana29/Network-Port-Scanner.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github.com/gamana29/Network-Port-Scanner.git"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395955" y="3202503"/>
            <a:ext cx="3400089" cy="861497"/>
          </a:xfrm>
        </p:spPr>
        <p:txBody>
          <a:bodyPr/>
          <a:lstStyle/>
          <a:p>
            <a:pPr algn="r"/>
            <a:r>
              <a:rPr lang="en-US" b="0" dirty="0">
                <a:solidFill>
                  <a:schemeClr val="tx1"/>
                </a:solidFill>
              </a:rPr>
              <a:t>Chirumamilla Gamana</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557520" y="2099251"/>
            <a:ext cx="4998720" cy="743448"/>
          </a:xfrm>
        </p:spPr>
        <p:txBody>
          <a:bodyPr>
            <a:normAutofit/>
          </a:bodyPr>
          <a:lstStyle/>
          <a:p>
            <a:r>
              <a:rPr lang="en-GB" sz="3200" dirty="0"/>
              <a:t>Network Port Scanner</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1">
            <a:extLst>
              <a:ext uri="{FF2B5EF4-FFF2-40B4-BE49-F238E27FC236}">
                <a16:creationId xmlns:a16="http://schemas.microsoft.com/office/drawing/2014/main" id="{824B8A32-9AB3-457E-82E1-C85D3203CE35}"/>
              </a:ext>
            </a:extLst>
          </p:cNvPr>
          <p:cNvSpPr txBox="1">
            <a:spLocks/>
          </p:cNvSpPr>
          <p:nvPr/>
        </p:nvSpPr>
        <p:spPr>
          <a:xfrm>
            <a:off x="6553200" y="29464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8" name="Text Placeholder 1">
            <a:extLst>
              <a:ext uri="{FF2B5EF4-FFF2-40B4-BE49-F238E27FC236}">
                <a16:creationId xmlns:a16="http://schemas.microsoft.com/office/drawing/2014/main" id="{824B8A32-9AB3-457E-82E1-C85D3203CE35}"/>
              </a:ext>
            </a:extLst>
          </p:cNvPr>
          <p:cNvSpPr txBox="1">
            <a:spLocks/>
          </p:cNvSpPr>
          <p:nvPr/>
        </p:nvSpPr>
        <p:spPr>
          <a:xfrm>
            <a:off x="6705600" y="30988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3" name="Text Placeholder 1">
            <a:extLst>
              <a:ext uri="{FF2B5EF4-FFF2-40B4-BE49-F238E27FC236}">
                <a16:creationId xmlns:a16="http://schemas.microsoft.com/office/drawing/2014/main" id="{F66C6EBB-597F-CEA2-E411-D8210E2B116D}"/>
              </a:ext>
            </a:extLst>
          </p:cNvPr>
          <p:cNvSpPr txBox="1">
            <a:spLocks/>
          </p:cNvSpPr>
          <p:nvPr/>
        </p:nvSpPr>
        <p:spPr>
          <a:xfrm>
            <a:off x="3730568" y="4398946"/>
            <a:ext cx="5164605"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r"/>
            <a:r>
              <a:rPr lang="en-US" dirty="0">
                <a:solidFill>
                  <a:schemeClr val="tx1"/>
                </a:solidFill>
              </a:rPr>
              <a:t>Koneru Lakshmaiah Education </a:t>
            </a:r>
            <a:endParaRPr lang="en-IN" b="0" dirty="0">
              <a:solidFill>
                <a:schemeClr val="tx1"/>
              </a:solidFill>
            </a:endParaRPr>
          </a:p>
        </p:txBody>
      </p:sp>
      <p:sp>
        <p:nvSpPr>
          <p:cNvPr id="9" name="Text Placeholder 1">
            <a:extLst>
              <a:ext uri="{FF2B5EF4-FFF2-40B4-BE49-F238E27FC236}">
                <a16:creationId xmlns:a16="http://schemas.microsoft.com/office/drawing/2014/main" id="{8D468F96-767D-7AE9-4D4B-514C52317D97}"/>
              </a:ext>
            </a:extLst>
          </p:cNvPr>
          <p:cNvSpPr txBox="1">
            <a:spLocks/>
          </p:cNvSpPr>
          <p:nvPr/>
        </p:nvSpPr>
        <p:spPr>
          <a:xfrm>
            <a:off x="3809070" y="3834349"/>
            <a:ext cx="605629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r"/>
            <a:r>
              <a:rPr lang="en-US" b="0" dirty="0">
                <a:solidFill>
                  <a:schemeClr val="tx1"/>
                </a:solidFill>
              </a:rPr>
              <a:t>AICTE ID: </a:t>
            </a:r>
            <a:r>
              <a:rPr lang="en-IN" b="0" dirty="0"/>
              <a:t>STU6815c625c40561746257445</a:t>
            </a:r>
            <a:endParaRPr lang="en-IN" b="0" dirty="0">
              <a:solidFill>
                <a:schemeClr val="tx1"/>
              </a:solidFill>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nodePh="1">
                                  <p:stCondLst>
                                    <p:cond delay="0"/>
                                  </p:stCondLst>
                                  <p:endCondLst>
                                    <p:cond evt="begin" delay="0">
                                      <p:tn val="35"/>
                                    </p:cond>
                                  </p:endCondLst>
                                  <p:childTnLst>
                                    <p:set>
                                      <p:cBhvr>
                                        <p:cTn id="36" dur="1" fill="hold">
                                          <p:stCondLst>
                                            <p:cond delay="0"/>
                                          </p:stCondLst>
                                        </p:cTn>
                                        <p:tgtEl>
                                          <p:spTgt spid="7"/>
                                        </p:tgtEl>
                                        <p:attrNameLst>
                                          <p:attrName>style.visibility</p:attrName>
                                        </p:attrNameLst>
                                      </p:cBhvr>
                                      <p:to>
                                        <p:strVal val="visible"/>
                                      </p:to>
                                    </p:set>
                                    <p:anim calcmode="lin" valueType="num">
                                      <p:cBhvr>
                                        <p:cTn id="37" dur="500" fill="hold"/>
                                        <p:tgtEl>
                                          <p:spTgt spid="7"/>
                                        </p:tgtEl>
                                        <p:attrNameLst>
                                          <p:attrName>ppt_w</p:attrName>
                                        </p:attrNameLst>
                                      </p:cBhvr>
                                      <p:tavLst>
                                        <p:tav tm="0">
                                          <p:val>
                                            <p:fltVal val="0"/>
                                          </p:val>
                                        </p:tav>
                                        <p:tav tm="100000">
                                          <p:val>
                                            <p:strVal val="#ppt_w"/>
                                          </p:val>
                                        </p:tav>
                                      </p:tavLst>
                                    </p:anim>
                                    <p:anim calcmode="lin" valueType="num">
                                      <p:cBhvr>
                                        <p:cTn id="38" dur="500" fill="hold"/>
                                        <p:tgtEl>
                                          <p:spTgt spid="7"/>
                                        </p:tgtEl>
                                        <p:attrNameLst>
                                          <p:attrName>ppt_h</p:attrName>
                                        </p:attrNameLst>
                                      </p:cBhvr>
                                      <p:tavLst>
                                        <p:tav tm="0">
                                          <p:val>
                                            <p:fltVal val="0"/>
                                          </p:val>
                                        </p:tav>
                                        <p:tav tm="100000">
                                          <p:val>
                                            <p:strVal val="#ppt_h"/>
                                          </p:val>
                                        </p:tav>
                                      </p:tavLst>
                                    </p:anim>
                                    <p:animEffect transition="in" filter="fade">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nodePh="1">
                                  <p:stCondLst>
                                    <p:cond delay="0"/>
                                  </p:stCondLst>
                                  <p:endCondLst>
                                    <p:cond evt="begin" delay="0">
                                      <p:tn val="42"/>
                                    </p:cond>
                                  </p:endCondLst>
                                  <p:childTnLst>
                                    <p:set>
                                      <p:cBhvr>
                                        <p:cTn id="43" dur="1" fill="hold">
                                          <p:stCondLst>
                                            <p:cond delay="0"/>
                                          </p:stCondLst>
                                        </p:cTn>
                                        <p:tgtEl>
                                          <p:spTgt spid="8"/>
                                        </p:tgtEl>
                                        <p:attrNameLst>
                                          <p:attrName>style.visibility</p:attrName>
                                        </p:attrNameLst>
                                      </p:cBhvr>
                                      <p:to>
                                        <p:strVal val="visible"/>
                                      </p:to>
                                    </p:set>
                                    <p:anim calcmode="lin" valueType="num">
                                      <p:cBhvr>
                                        <p:cTn id="44" dur="500" fill="hold"/>
                                        <p:tgtEl>
                                          <p:spTgt spid="8"/>
                                        </p:tgtEl>
                                        <p:attrNameLst>
                                          <p:attrName>ppt_w</p:attrName>
                                        </p:attrNameLst>
                                      </p:cBhvr>
                                      <p:tavLst>
                                        <p:tav tm="0">
                                          <p:val>
                                            <p:fltVal val="0"/>
                                          </p:val>
                                        </p:tav>
                                        <p:tav tm="100000">
                                          <p:val>
                                            <p:strVal val="#ppt_w"/>
                                          </p:val>
                                        </p:tav>
                                      </p:tavLst>
                                    </p:anim>
                                    <p:anim calcmode="lin" valueType="num">
                                      <p:cBhvr>
                                        <p:cTn id="45" dur="500" fill="hold"/>
                                        <p:tgtEl>
                                          <p:spTgt spid="8"/>
                                        </p:tgtEl>
                                        <p:attrNameLst>
                                          <p:attrName>ppt_h</p:attrName>
                                        </p:attrNameLst>
                                      </p:cBhvr>
                                      <p:tavLst>
                                        <p:tav tm="0">
                                          <p:val>
                                            <p:fltVal val="0"/>
                                          </p:val>
                                        </p:tav>
                                        <p:tav tm="100000">
                                          <p:val>
                                            <p:strVal val="#ppt_h"/>
                                          </p:val>
                                        </p:tav>
                                      </p:tavLst>
                                    </p:anim>
                                    <p:animEffect transition="in" filter="fade">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3">
                                            <p:txEl>
                                              <p:pRg st="0" end="0"/>
                                            </p:txEl>
                                          </p:spTgt>
                                        </p:tgtEl>
                                        <p:attrNameLst>
                                          <p:attrName>style.visibility</p:attrName>
                                        </p:attrNameLst>
                                      </p:cBhvr>
                                      <p:to>
                                        <p:strVal val="visible"/>
                                      </p:to>
                                    </p:set>
                                    <p:animEffect transition="in" filter="randombar(horizontal)">
                                      <p:cBhvr>
                                        <p:cTn id="51" dur="500"/>
                                        <p:tgtEl>
                                          <p:spTgt spid="3">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ntr" presetSubtype="10" fill="hold" grpId="0" nodeType="clickEffect">
                                  <p:stCondLst>
                                    <p:cond delay="0"/>
                                  </p:stCondLst>
                                  <p:childTnLst>
                                    <p:set>
                                      <p:cBhvr>
                                        <p:cTn id="55" dur="1" fill="hold">
                                          <p:stCondLst>
                                            <p:cond delay="0"/>
                                          </p:stCondLst>
                                        </p:cTn>
                                        <p:tgtEl>
                                          <p:spTgt spid="9">
                                            <p:txEl>
                                              <p:pRg st="0" end="0"/>
                                            </p:txEl>
                                          </p:spTgt>
                                        </p:tgtEl>
                                        <p:attrNameLst>
                                          <p:attrName>style.visibility</p:attrName>
                                        </p:attrNameLst>
                                      </p:cBhvr>
                                      <p:to>
                                        <p:strVal val="visible"/>
                                      </p:to>
                                    </p:set>
                                    <p:animEffect transition="in" filter="randombar(horizontal)">
                                      <p:cBhvr>
                                        <p:cTn id="56"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P spid="7" grpId="0"/>
      <p:bldP spid="8" grpId="0"/>
      <p:bldP spid="3" grpId="0" build="p"/>
      <p:bldP spid="9"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580853" y="1992086"/>
            <a:ext cx="6995604" cy="4672874"/>
          </a:xfrm>
        </p:spPr>
        <p:txBody>
          <a:bodyPr>
            <a:normAutofit fontScale="85000" lnSpcReduction="20000"/>
          </a:bodyPr>
          <a:lstStyle/>
          <a:p>
            <a:r>
              <a:rPr lang="en-US" sz="2800" dirty="0"/>
              <a:t>In modern computer networks, identifying open ports and active services on a system is essential for security analysis, network management, and troubleshooting. However, many existing port scanning tools are either complex, command-line based, or not user-friendly for beginners.</a:t>
            </a:r>
          </a:p>
          <a:p>
            <a:r>
              <a:rPr lang="en-US" sz="2800" dirty="0"/>
              <a:t>There is a need for a simple, efficient, and user-friendly application that allows users to scan a target system for open TCP ports within a specified range. The tool should provide clear results, support multi-threaded scanning for faster performance, and offer a graphical interface to improve accessibility for non-technical users.</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10DB1A22-999E-F322-DF68-E558849303D3}"/>
              </a:ext>
            </a:extLst>
          </p:cNvPr>
          <p:cNvSpPr txBox="1"/>
          <p:nvPr/>
        </p:nvSpPr>
        <p:spPr>
          <a:xfrm>
            <a:off x="675957" y="2052734"/>
            <a:ext cx="7749586" cy="3970318"/>
          </a:xfrm>
          <a:prstGeom prst="rect">
            <a:avLst/>
          </a:prstGeom>
          <a:noFill/>
        </p:spPr>
        <p:txBody>
          <a:bodyPr wrap="square" rtlCol="0">
            <a:spAutoFit/>
          </a:bodyPr>
          <a:lstStyle/>
          <a:p>
            <a:r>
              <a:rPr lang="en-US" dirty="0"/>
              <a:t>The </a:t>
            </a:r>
            <a:r>
              <a:rPr lang="en-US" b="1" dirty="0"/>
              <a:t>Network Port Scanner with Tkinter GUI</a:t>
            </a:r>
            <a:r>
              <a:rPr lang="en-US" dirty="0"/>
              <a:t> is a Python-based application designed to analyze network systems by identifying open TCP ports on a given target. The primary goal of this project is to provide a simple, efficient, and user-friendly tool that enables users to perform port scanning without requiring advanced knowledge of command-line utilities or networking tools.</a:t>
            </a:r>
          </a:p>
          <a:p>
            <a:endParaRPr lang="en-US" dirty="0"/>
          </a:p>
          <a:p>
            <a:r>
              <a:rPr lang="en-US" dirty="0"/>
              <a:t>The application allows users to input a target system in the form of an IP address or hostname and define a specific port range (0–65535) to scan. Once initiated, the scanner performs a </a:t>
            </a:r>
            <a:r>
              <a:rPr lang="en-US" b="1" dirty="0"/>
              <a:t>TCP connect scan</a:t>
            </a:r>
            <a:r>
              <a:rPr lang="en-US" dirty="0"/>
              <a:t> using Python’s socket programming, where each port is tested to determine whether it is open or closed. Open ports indicate active services running on the target machine, which are essential for understanding network behavior and potential vulnerabilities.</a:t>
            </a: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ADB833D5-C225-A45D-359C-8134421CABC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033DAE3-1C99-31C0-7E03-04F497307D0A}"/>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1A553048-C2AA-BBC5-2AC5-7219970CA939}"/>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22CB2AFC-375F-F672-D756-41DABA634559}"/>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6BD94316-A33D-AE07-048E-0D889A4A0198}"/>
              </a:ext>
            </a:extLst>
          </p:cNvPr>
          <p:cNvSpPr txBox="1"/>
          <p:nvPr/>
        </p:nvSpPr>
        <p:spPr>
          <a:xfrm>
            <a:off x="675957" y="2078684"/>
            <a:ext cx="8404680" cy="4524315"/>
          </a:xfrm>
          <a:prstGeom prst="rect">
            <a:avLst/>
          </a:prstGeom>
          <a:noFill/>
        </p:spPr>
        <p:txBody>
          <a:bodyPr wrap="square" rtlCol="0">
            <a:spAutoFit/>
          </a:bodyPr>
          <a:lstStyle/>
          <a:p>
            <a:r>
              <a:rPr lang="en-US" dirty="0"/>
              <a:t>To improve performance, the system uses </a:t>
            </a:r>
            <a:r>
              <a:rPr lang="en-US" b="1" dirty="0"/>
              <a:t>multi-threading</a:t>
            </a:r>
            <a:r>
              <a:rPr lang="en-US" dirty="0"/>
              <a:t>, allowing multiple ports to be scanned simultaneously. This significantly reduces scanning time compared to traditional sequential scanning methods. The application includes an internal configuration for thread management and timeout handling, ensuring a balance between speed and system resource usage.</a:t>
            </a:r>
          </a:p>
          <a:p>
            <a:endParaRPr lang="en-US" dirty="0"/>
          </a:p>
          <a:p>
            <a:r>
              <a:rPr lang="en-US" dirty="0"/>
              <a:t>A key feature of this project is its </a:t>
            </a:r>
            <a:r>
              <a:rPr lang="en-US" b="1" dirty="0"/>
              <a:t>Graphical User Interface (GUI)</a:t>
            </a:r>
            <a:r>
              <a:rPr lang="en-US" dirty="0"/>
              <a:t> built using Tkinter. The GUI provides an intuitive environment where users can easily enter inputs, start scans, and view results in real time. It also includes a </a:t>
            </a:r>
            <a:r>
              <a:rPr lang="en-US" b="1" dirty="0"/>
              <a:t>progress bar and elapsed time display</a:t>
            </a:r>
            <a:r>
              <a:rPr lang="en-US" dirty="0"/>
              <a:t>, giving users clear feedback on the scanning process.</a:t>
            </a:r>
          </a:p>
          <a:p>
            <a:endParaRPr lang="en-US" dirty="0"/>
          </a:p>
          <a:p>
            <a:r>
              <a:rPr lang="en-US" dirty="0"/>
              <a:t>The scanner also incorporates a </a:t>
            </a:r>
            <a:r>
              <a:rPr lang="en-US" b="1" dirty="0"/>
              <a:t>basic service mapping feature</a:t>
            </a:r>
            <a:r>
              <a:rPr lang="en-US" dirty="0"/>
              <a:t>, where commonly used port numbers are associated with known services (e.g., HTTP, FTP, SSH). This helps users better understand the purpose of each open port without needing additional lookup tools.</a:t>
            </a:r>
          </a:p>
          <a:p>
            <a:endParaRPr lang="en-IN" dirty="0"/>
          </a:p>
        </p:txBody>
      </p:sp>
    </p:spTree>
    <p:extLst>
      <p:ext uri="{BB962C8B-B14F-4D97-AF65-F5344CB8AC3E}">
        <p14:creationId xmlns:p14="http://schemas.microsoft.com/office/powerpoint/2010/main" val="4082790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r>
              <a:rPr lang="en-IN" sz="3600" dirty="0"/>
              <a:t>IT engineers</a:t>
            </a:r>
          </a:p>
          <a:p>
            <a:pPr algn="just">
              <a:lnSpc>
                <a:spcPct val="150000"/>
              </a:lnSpc>
            </a:pPr>
            <a:r>
              <a:rPr lang="en-IN" sz="3600" dirty="0"/>
              <a:t>SOC</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914400" y="1505007"/>
            <a:ext cx="9027702" cy="5243448"/>
          </a:xfrm>
        </p:spPr>
        <p:txBody>
          <a:bodyPr/>
          <a:lstStyle/>
          <a:p>
            <a:pPr lvl="1">
              <a:lnSpc>
                <a:spcPct val="150000"/>
              </a:lnSpc>
            </a:pPr>
            <a:r>
              <a:rPr lang="en-IN" dirty="0"/>
              <a:t>Python 3.12 </a:t>
            </a:r>
          </a:p>
          <a:p>
            <a:pPr lvl="1">
              <a:lnSpc>
                <a:spcPct val="150000"/>
              </a:lnSpc>
            </a:pPr>
            <a:r>
              <a:rPr lang="en-IN" dirty="0"/>
              <a:t>Tkinter (GUI)</a:t>
            </a:r>
          </a:p>
          <a:p>
            <a:pPr lvl="1">
              <a:lnSpc>
                <a:spcPct val="150000"/>
              </a:lnSpc>
            </a:pPr>
            <a:r>
              <a:rPr lang="en-IN" dirty="0"/>
              <a:t>Socket Programming</a:t>
            </a:r>
          </a:p>
          <a:p>
            <a:pPr lvl="1">
              <a:lnSpc>
                <a:spcPct val="150000"/>
              </a:lnSpc>
            </a:pPr>
            <a:r>
              <a:rPr lang="en-IN" dirty="0"/>
              <a:t> Multithreading</a:t>
            </a:r>
          </a:p>
          <a:p>
            <a:pPr lvl="1">
              <a:lnSpc>
                <a:spcPct val="150000"/>
              </a:lnSpc>
            </a:pPr>
            <a:r>
              <a:rPr lang="en-IN" dirty="0"/>
              <a:t>File Handling.</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11" name="Picture 10">
            <a:extLst>
              <a:ext uri="{FF2B5EF4-FFF2-40B4-BE49-F238E27FC236}">
                <a16:creationId xmlns:a16="http://schemas.microsoft.com/office/drawing/2014/main" id="{BB663A6C-CCDB-5DA8-98DE-3801C145B239}"/>
              </a:ext>
            </a:extLst>
          </p:cNvPr>
          <p:cNvPicPr>
            <a:picLocks noChangeAspect="1"/>
          </p:cNvPicPr>
          <p:nvPr/>
        </p:nvPicPr>
        <p:blipFill>
          <a:blip r:embed="rId4"/>
          <a:stretch>
            <a:fillRect/>
          </a:stretch>
        </p:blipFill>
        <p:spPr>
          <a:xfrm>
            <a:off x="2597049" y="1150676"/>
            <a:ext cx="5092206" cy="5417764"/>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CA8EA-A169-B051-22F1-C46B76FE029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7F8308B-B2BB-4DE3-93A3-F70A711855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F953CD6-4D27-07DB-1456-41E559B5F44E}"/>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56ADD52-7471-74A8-6B89-E08B9CFD0D1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9EFA6EF-AC7C-8295-9C5C-C22B53A137B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B4C44DB0-C2E7-1AE4-D962-CA9187B51F1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0B58D685-5644-264B-8DDA-D0B8011D3484}"/>
              </a:ext>
            </a:extLst>
          </p:cNvPr>
          <p:cNvPicPr>
            <a:picLocks noChangeAspect="1"/>
          </p:cNvPicPr>
          <p:nvPr/>
        </p:nvPicPr>
        <p:blipFill>
          <a:blip r:embed="rId4"/>
          <a:stretch>
            <a:fillRect/>
          </a:stretch>
        </p:blipFill>
        <p:spPr>
          <a:xfrm>
            <a:off x="2876939" y="1201586"/>
            <a:ext cx="6438122" cy="5656414"/>
          </a:xfrm>
          <a:prstGeom prst="rect">
            <a:avLst/>
          </a:prstGeom>
        </p:spPr>
      </p:pic>
    </p:spTree>
    <p:extLst>
      <p:ext uri="{BB962C8B-B14F-4D97-AF65-F5344CB8AC3E}">
        <p14:creationId xmlns:p14="http://schemas.microsoft.com/office/powerpoint/2010/main" val="4011458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11" name="Picture 10">
            <a:extLst>
              <a:ext uri="{FF2B5EF4-FFF2-40B4-BE49-F238E27FC236}">
                <a16:creationId xmlns:a16="http://schemas.microsoft.com/office/drawing/2014/main" id="{E1684792-4083-7C6B-B692-9A0AB879E0E4}"/>
              </a:ext>
            </a:extLst>
          </p:cNvPr>
          <p:cNvPicPr>
            <a:picLocks noChangeAspect="1"/>
          </p:cNvPicPr>
          <p:nvPr/>
        </p:nvPicPr>
        <p:blipFill>
          <a:blip r:embed="rId4"/>
          <a:stretch>
            <a:fillRect/>
          </a:stretch>
        </p:blipFill>
        <p:spPr>
          <a:xfrm>
            <a:off x="1913780" y="1485900"/>
            <a:ext cx="8144531" cy="4429768"/>
          </a:xfrm>
          <a:prstGeom prst="rect">
            <a:avLst/>
          </a:prstGeom>
        </p:spPr>
      </p:pic>
    </p:spTree>
    <p:extLst>
      <p:ext uri="{BB962C8B-B14F-4D97-AF65-F5344CB8AC3E}">
        <p14:creationId xmlns:p14="http://schemas.microsoft.com/office/powerpoint/2010/main" val="289115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68477-514B-2F30-E6D3-E436C1EA8FD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07155E2-2218-04E8-9784-ECD78509326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7EF60C3-2238-8C60-C8BC-C17C0871973E}"/>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B0C1A03-4B44-A1FA-06FD-98F51B8B02F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2463448-0211-D8E2-1FA9-C5280A3E327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A48215FD-F6D1-E0E7-DBF6-7CA3A02F8EA6}"/>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ED3049AE-6F15-D8B5-ACAD-36139012A658}"/>
              </a:ext>
            </a:extLst>
          </p:cNvPr>
          <p:cNvPicPr>
            <a:picLocks noChangeAspect="1"/>
          </p:cNvPicPr>
          <p:nvPr/>
        </p:nvPicPr>
        <p:blipFill>
          <a:blip r:embed="rId4"/>
          <a:stretch>
            <a:fillRect/>
          </a:stretch>
        </p:blipFill>
        <p:spPr>
          <a:xfrm>
            <a:off x="2166778" y="1306325"/>
            <a:ext cx="6623945" cy="5066243"/>
          </a:xfrm>
          <a:prstGeom prst="rect">
            <a:avLst/>
          </a:prstGeom>
        </p:spPr>
      </p:pic>
    </p:spTree>
    <p:extLst>
      <p:ext uri="{BB962C8B-B14F-4D97-AF65-F5344CB8AC3E}">
        <p14:creationId xmlns:p14="http://schemas.microsoft.com/office/powerpoint/2010/main" val="2539675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75E41-6320-B2EC-C5D7-0FBC7CE450E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7713E9E-B965-BB50-C73D-37280446BD2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F5504F2-AD0C-A81E-9AB8-D6EBB73327E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2A4A96A-7DC5-3EAB-D7A4-B7CCBAA4831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80F37F6-F655-18ED-6F0B-9B6DA86BB84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324E94B7-B27F-128B-DD32-0EB296AE442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10" name="Picture 9">
            <a:extLst>
              <a:ext uri="{FF2B5EF4-FFF2-40B4-BE49-F238E27FC236}">
                <a16:creationId xmlns:a16="http://schemas.microsoft.com/office/drawing/2014/main" id="{1ED591C3-12D6-EC65-A6F4-7019EE57ED74}"/>
              </a:ext>
            </a:extLst>
          </p:cNvPr>
          <p:cNvPicPr>
            <a:picLocks noChangeAspect="1"/>
          </p:cNvPicPr>
          <p:nvPr/>
        </p:nvPicPr>
        <p:blipFill>
          <a:blip r:embed="rId4"/>
          <a:stretch>
            <a:fillRect/>
          </a:stretch>
        </p:blipFill>
        <p:spPr>
          <a:xfrm>
            <a:off x="2166778" y="1365807"/>
            <a:ext cx="7039957" cy="5106113"/>
          </a:xfrm>
          <a:prstGeom prst="rect">
            <a:avLst/>
          </a:prstGeom>
        </p:spPr>
      </p:pic>
    </p:spTree>
    <p:extLst>
      <p:ext uri="{BB962C8B-B14F-4D97-AF65-F5344CB8AC3E}">
        <p14:creationId xmlns:p14="http://schemas.microsoft.com/office/powerpoint/2010/main" val="4186050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9C4AC-F869-B736-E44C-A256C3DF2B4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F41DB93-E936-4058-F6E8-7BEF4C2807F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DB9EDFE-7ABD-417D-239A-98D78C1AF628}"/>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22F670B-189E-EB68-AB7E-06A4BA90E86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BE70E41-9B2A-90A5-7871-0E3930546A1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A5F5A3E8-9B8D-0983-374A-F98B8A796A72}"/>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graphicFrame>
        <p:nvGraphicFramePr>
          <p:cNvPr id="2" name="Table 1">
            <a:extLst>
              <a:ext uri="{FF2B5EF4-FFF2-40B4-BE49-F238E27FC236}">
                <a16:creationId xmlns:a16="http://schemas.microsoft.com/office/drawing/2014/main" id="{8701B759-0188-8799-33D8-71626AA28E40}"/>
              </a:ext>
            </a:extLst>
          </p:cNvPr>
          <p:cNvGraphicFramePr>
            <a:graphicFrameLocks noGrp="1"/>
          </p:cNvGraphicFramePr>
          <p:nvPr>
            <p:extLst>
              <p:ext uri="{D42A27DB-BD31-4B8C-83A1-F6EECF244321}">
                <p14:modId xmlns:p14="http://schemas.microsoft.com/office/powerpoint/2010/main" val="219183950"/>
              </p:ext>
            </p:extLst>
          </p:nvPr>
        </p:nvGraphicFramePr>
        <p:xfrm>
          <a:off x="704426" y="1514173"/>
          <a:ext cx="5920234" cy="4126750"/>
        </p:xfrm>
        <a:graphic>
          <a:graphicData uri="http://schemas.openxmlformats.org/drawingml/2006/table">
            <a:tbl>
              <a:tblPr firstRow="1" bandRow="1">
                <a:noFill/>
              </a:tblPr>
              <a:tblGrid>
                <a:gridCol w="681392">
                  <a:extLst>
                    <a:ext uri="{9D8B030D-6E8A-4147-A177-3AD203B41FA5}">
                      <a16:colId xmlns:a16="http://schemas.microsoft.com/office/drawing/2014/main" val="3235733822"/>
                    </a:ext>
                  </a:extLst>
                </a:gridCol>
                <a:gridCol w="968308">
                  <a:extLst>
                    <a:ext uri="{9D8B030D-6E8A-4147-A177-3AD203B41FA5}">
                      <a16:colId xmlns:a16="http://schemas.microsoft.com/office/drawing/2014/main" val="3571967177"/>
                    </a:ext>
                  </a:extLst>
                </a:gridCol>
                <a:gridCol w="1042932">
                  <a:extLst>
                    <a:ext uri="{9D8B030D-6E8A-4147-A177-3AD203B41FA5}">
                      <a16:colId xmlns:a16="http://schemas.microsoft.com/office/drawing/2014/main" val="3283034987"/>
                    </a:ext>
                  </a:extLst>
                </a:gridCol>
                <a:gridCol w="3227602">
                  <a:extLst>
                    <a:ext uri="{9D8B030D-6E8A-4147-A177-3AD203B41FA5}">
                      <a16:colId xmlns:a16="http://schemas.microsoft.com/office/drawing/2014/main" val="3934296102"/>
                    </a:ext>
                  </a:extLst>
                </a:gridCol>
              </a:tblGrid>
              <a:tr h="538450">
                <a:tc>
                  <a:txBody>
                    <a:bodyPr/>
                    <a:lstStyle/>
                    <a:p>
                      <a:pPr rtl="0">
                        <a:buNone/>
                      </a:pPr>
                      <a:r>
                        <a:rPr lang="en-IN" sz="900" b="1">
                          <a:solidFill>
                            <a:srgbClr val="FFFFFF"/>
                          </a:solidFill>
                          <a:effectLst/>
                          <a:latin typeface="Google Sans Text"/>
                        </a:rPr>
                        <a:t>Port</a:t>
                      </a:r>
                    </a:p>
                  </a:txBody>
                  <a:tcPr marL="126109" marR="75666" marT="75666" marB="75666" anchor="ctr">
                    <a:lnL w="38100" cap="flat" cmpd="sng" algn="ctr">
                      <a:no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rtl="0">
                        <a:buNone/>
                      </a:pPr>
                      <a:r>
                        <a:rPr lang="en-IN" sz="900" b="1">
                          <a:solidFill>
                            <a:srgbClr val="FFFFFF"/>
                          </a:solidFill>
                          <a:effectLst/>
                          <a:latin typeface="Google Sans Text"/>
                        </a:rPr>
                        <a:t>Protocol</a:t>
                      </a:r>
                    </a:p>
                  </a:txBody>
                  <a:tcPr marL="126109" marR="75666" marT="75666" marB="75666"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rtl="0">
                        <a:buNone/>
                      </a:pPr>
                      <a:r>
                        <a:rPr lang="en-IN" sz="900" b="1">
                          <a:solidFill>
                            <a:srgbClr val="FFFFFF"/>
                          </a:solidFill>
                          <a:effectLst/>
                          <a:latin typeface="Google Sans Text"/>
                        </a:rPr>
                        <a:t>Typical Service</a:t>
                      </a:r>
                    </a:p>
                  </a:txBody>
                  <a:tcPr marL="126109" marR="75666" marT="75666" marB="75666"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rtl="0">
                        <a:buNone/>
                      </a:pPr>
                      <a:r>
                        <a:rPr lang="en-IN" sz="900" b="1">
                          <a:solidFill>
                            <a:srgbClr val="FFFFFF"/>
                          </a:solidFill>
                          <a:effectLst/>
                          <a:latin typeface="Google Sans Text"/>
                        </a:rPr>
                        <a:t>Description</a:t>
                      </a:r>
                    </a:p>
                  </a:txBody>
                  <a:tcPr marL="126109" marR="75666" marT="75666" marB="75666" anchor="ctr">
                    <a:lnL w="38100" cap="flat" cmpd="sng" algn="ctr">
                      <a:solidFill>
                        <a:srgbClr val="FFFFFF"/>
                      </a:solidFill>
                      <a:prstDash val="solid"/>
                    </a:lnL>
                    <a:lnR w="38100" cap="flat" cmpd="sng" algn="ctr">
                      <a:noFill/>
                      <a:prstDash val="solid"/>
                    </a:lnR>
                    <a:lnT w="38100" cap="flat" cmpd="sng" algn="ctr">
                      <a:noFill/>
                      <a:prstDash val="solid"/>
                    </a:lnT>
                    <a:lnB w="38100" cap="flat" cmpd="sng" algn="ctr">
                      <a:solidFill>
                        <a:srgbClr val="FFFFFF"/>
                      </a:solidFill>
                      <a:prstDash val="solid"/>
                    </a:lnB>
                    <a:solidFill>
                      <a:srgbClr val="636B68">
                        <a:alpha val="69804"/>
                      </a:srgbClr>
                    </a:solidFill>
                  </a:tcPr>
                </a:tc>
                <a:extLst>
                  <a:ext uri="{0D108BD9-81ED-4DB2-BD59-A6C34878D82A}">
                    <a16:rowId xmlns:a16="http://schemas.microsoft.com/office/drawing/2014/main" val="1099618154"/>
                  </a:ext>
                </a:extLst>
              </a:tr>
              <a:tr h="1196100">
                <a:tc>
                  <a:txBody>
                    <a:bodyPr/>
                    <a:lstStyle/>
                    <a:p>
                      <a:pPr rtl="0">
                        <a:buNone/>
                      </a:pPr>
                      <a:r>
                        <a:rPr lang="en-IN" sz="900" b="1">
                          <a:solidFill>
                            <a:schemeClr val="tx1">
                              <a:lumMod val="85000"/>
                              <a:lumOff val="15000"/>
                            </a:schemeClr>
                          </a:solidFill>
                          <a:effectLst/>
                          <a:latin typeface="Google Sans Text"/>
                        </a:rPr>
                        <a:t>135</a:t>
                      </a:r>
                      <a:endParaRPr lang="en-IN" sz="900">
                        <a:solidFill>
                          <a:schemeClr val="tx1">
                            <a:lumMod val="85000"/>
                            <a:lumOff val="15000"/>
                          </a:schemeClr>
                        </a:solidFill>
                        <a:effectLst/>
                        <a:latin typeface="Google Sans Text"/>
                      </a:endParaRPr>
                    </a:p>
                  </a:txBody>
                  <a:tcPr marL="126109" marR="75666" marT="75666" marB="75666"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rtl="0">
                        <a:buNone/>
                      </a:pPr>
                      <a:r>
                        <a:rPr lang="en-IN" sz="900">
                          <a:solidFill>
                            <a:schemeClr val="tx1">
                              <a:lumMod val="85000"/>
                              <a:lumOff val="15000"/>
                            </a:schemeClr>
                          </a:solidFill>
                          <a:effectLst/>
                          <a:latin typeface="Google Sans Text"/>
                        </a:rPr>
                        <a:t>TCP</a:t>
                      </a:r>
                    </a:p>
                  </a:txBody>
                  <a:tcPr marL="126109" marR="75666" marT="75666" marB="75666"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rtl="0">
                        <a:buNone/>
                      </a:pPr>
                      <a:r>
                        <a:rPr lang="en-IN" sz="900" dirty="0">
                          <a:solidFill>
                            <a:schemeClr val="tx1">
                              <a:lumMod val="85000"/>
                              <a:lumOff val="15000"/>
                            </a:schemeClr>
                          </a:solidFill>
                          <a:effectLst/>
                          <a:latin typeface="Google Sans Text"/>
                        </a:rPr>
                        <a:t>MSRPC</a:t>
                      </a:r>
                    </a:p>
                  </a:txBody>
                  <a:tcPr marL="126109" marR="75666" marT="75666" marB="75666"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rtl="0">
                        <a:buNone/>
                      </a:pPr>
                      <a:r>
                        <a:rPr lang="en-US" sz="900" b="1" dirty="0">
                          <a:solidFill>
                            <a:schemeClr val="tx1">
                              <a:lumMod val="85000"/>
                              <a:lumOff val="15000"/>
                            </a:schemeClr>
                          </a:solidFill>
                          <a:effectLst/>
                          <a:latin typeface="Google Sans Text"/>
                        </a:rPr>
                        <a:t>Microsoft Remote Procedure Call (RPC):</a:t>
                      </a:r>
                      <a:r>
                        <a:rPr lang="en-US" sz="900" dirty="0">
                          <a:solidFill>
                            <a:schemeClr val="tx1">
                              <a:lumMod val="85000"/>
                              <a:lumOff val="15000"/>
                            </a:schemeClr>
                          </a:solidFill>
                          <a:effectLst/>
                          <a:latin typeface="Google Sans Text"/>
                        </a:rPr>
                        <a:t> Used by Windows to manage communication between applications across the network. It acts as an endpoint mapper, directing clients to the correct ports for various Microsoft services.</a:t>
                      </a:r>
                    </a:p>
                  </a:txBody>
                  <a:tcPr marL="126109" marR="75666" marT="75666" marB="75666"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1397490801"/>
                  </a:ext>
                </a:extLst>
              </a:tr>
              <a:tr h="1196100">
                <a:tc>
                  <a:txBody>
                    <a:bodyPr/>
                    <a:lstStyle/>
                    <a:p>
                      <a:pPr rtl="0">
                        <a:buNone/>
                      </a:pPr>
                      <a:r>
                        <a:rPr lang="en-IN" sz="900" b="1">
                          <a:solidFill>
                            <a:schemeClr val="tx1">
                              <a:lumMod val="85000"/>
                              <a:lumOff val="15000"/>
                            </a:schemeClr>
                          </a:solidFill>
                          <a:effectLst/>
                          <a:latin typeface="Google Sans Text"/>
                        </a:rPr>
                        <a:t>139</a:t>
                      </a:r>
                      <a:endParaRPr lang="en-IN" sz="900">
                        <a:solidFill>
                          <a:schemeClr val="tx1">
                            <a:lumMod val="85000"/>
                            <a:lumOff val="15000"/>
                          </a:schemeClr>
                        </a:solidFill>
                        <a:effectLst/>
                        <a:latin typeface="Google Sans Text"/>
                      </a:endParaRPr>
                    </a:p>
                  </a:txBody>
                  <a:tcPr marL="126109" marR="75666" marT="75666" marB="75666"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a:buNone/>
                      </a:pPr>
                      <a:r>
                        <a:rPr lang="en-IN" sz="900">
                          <a:solidFill>
                            <a:schemeClr val="tx1">
                              <a:lumMod val="85000"/>
                              <a:lumOff val="15000"/>
                            </a:schemeClr>
                          </a:solidFill>
                          <a:effectLst/>
                          <a:latin typeface="Google Sans Text"/>
                        </a:rPr>
                        <a:t>TCP</a:t>
                      </a:r>
                    </a:p>
                  </a:txBody>
                  <a:tcPr marL="126109" marR="75666" marT="75666" marB="75666"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a:buNone/>
                      </a:pPr>
                      <a:r>
                        <a:rPr lang="en-IN" sz="900">
                          <a:solidFill>
                            <a:schemeClr val="tx1">
                              <a:lumMod val="85000"/>
                              <a:lumOff val="15000"/>
                            </a:schemeClr>
                          </a:solidFill>
                          <a:effectLst/>
                          <a:latin typeface="Google Sans Text"/>
                        </a:rPr>
                        <a:t>NetBIOS-ssn</a:t>
                      </a:r>
                    </a:p>
                  </a:txBody>
                  <a:tcPr marL="126109" marR="75666" marT="75666" marB="75666"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a:buNone/>
                      </a:pPr>
                      <a:r>
                        <a:rPr lang="en-US" sz="900" b="1">
                          <a:solidFill>
                            <a:schemeClr val="tx1">
                              <a:lumMod val="85000"/>
                              <a:lumOff val="15000"/>
                            </a:schemeClr>
                          </a:solidFill>
                          <a:effectLst/>
                          <a:latin typeface="Google Sans Text"/>
                        </a:rPr>
                        <a:t>NetBIOS Session Service:</a:t>
                      </a:r>
                      <a:r>
                        <a:rPr lang="en-US" sz="900">
                          <a:solidFill>
                            <a:schemeClr val="tx1">
                              <a:lumMod val="85000"/>
                              <a:lumOff val="15000"/>
                            </a:schemeClr>
                          </a:solidFill>
                          <a:effectLst/>
                          <a:latin typeface="Google Sans Text"/>
                        </a:rPr>
                        <a:t> Historically used in older Windows environments for file and printer sharing over a local area network (LAN). It allows applications on different computers to communicate within a local network.</a:t>
                      </a:r>
                    </a:p>
                  </a:txBody>
                  <a:tcPr marL="126109" marR="75666" marT="75666" marB="75666"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342344432"/>
                  </a:ext>
                </a:extLst>
              </a:tr>
              <a:tr h="1196100">
                <a:tc>
                  <a:txBody>
                    <a:bodyPr/>
                    <a:lstStyle/>
                    <a:p>
                      <a:pPr rtl="0">
                        <a:buNone/>
                      </a:pPr>
                      <a:r>
                        <a:rPr lang="en-IN" sz="900" b="1">
                          <a:solidFill>
                            <a:schemeClr val="tx1">
                              <a:lumMod val="85000"/>
                              <a:lumOff val="15000"/>
                            </a:schemeClr>
                          </a:solidFill>
                          <a:effectLst/>
                          <a:latin typeface="Google Sans Text"/>
                        </a:rPr>
                        <a:t>445</a:t>
                      </a:r>
                      <a:endParaRPr lang="en-IN" sz="900">
                        <a:solidFill>
                          <a:schemeClr val="tx1">
                            <a:lumMod val="85000"/>
                            <a:lumOff val="15000"/>
                          </a:schemeClr>
                        </a:solidFill>
                        <a:effectLst/>
                        <a:latin typeface="Google Sans Text"/>
                      </a:endParaRPr>
                    </a:p>
                  </a:txBody>
                  <a:tcPr marL="126109" marR="75666" marT="75666" marB="75666"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rtl="0">
                        <a:buNone/>
                      </a:pPr>
                      <a:r>
                        <a:rPr lang="en-IN" sz="900">
                          <a:solidFill>
                            <a:schemeClr val="tx1">
                              <a:lumMod val="85000"/>
                              <a:lumOff val="15000"/>
                            </a:schemeClr>
                          </a:solidFill>
                          <a:effectLst/>
                          <a:latin typeface="Google Sans Text"/>
                        </a:rPr>
                        <a:t>TCP</a:t>
                      </a:r>
                    </a:p>
                  </a:txBody>
                  <a:tcPr marL="126109" marR="75666" marT="75666" marB="75666"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rtl="0">
                        <a:buNone/>
                      </a:pPr>
                      <a:r>
                        <a:rPr lang="en-IN" sz="900">
                          <a:solidFill>
                            <a:schemeClr val="tx1">
                              <a:lumMod val="85000"/>
                              <a:lumOff val="15000"/>
                            </a:schemeClr>
                          </a:solidFill>
                          <a:effectLst/>
                          <a:latin typeface="Google Sans Text"/>
                        </a:rPr>
                        <a:t>microsoft-ds</a:t>
                      </a:r>
                    </a:p>
                  </a:txBody>
                  <a:tcPr marL="126109" marR="75666" marT="75666" marB="75666"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rtl="0">
                        <a:buNone/>
                      </a:pPr>
                      <a:r>
                        <a:rPr lang="en-US" sz="900" b="1" dirty="0">
                          <a:solidFill>
                            <a:schemeClr val="tx1">
                              <a:lumMod val="85000"/>
                              <a:lumOff val="15000"/>
                            </a:schemeClr>
                          </a:solidFill>
                          <a:effectLst/>
                          <a:latin typeface="Google Sans Text"/>
                        </a:rPr>
                        <a:t>Server Message Block (SMB):</a:t>
                      </a:r>
                      <a:r>
                        <a:rPr lang="en-US" sz="900" dirty="0">
                          <a:solidFill>
                            <a:schemeClr val="tx1">
                              <a:lumMod val="85000"/>
                              <a:lumOff val="15000"/>
                            </a:schemeClr>
                          </a:solidFill>
                          <a:effectLst/>
                          <a:latin typeface="Google Sans Text"/>
                        </a:rPr>
                        <a:t> The modern protocol used by Windows for file sharing, printer sharing, and accessing remote Windows services. SMB over port 445 operates directly over TCP/IP, removing the need for NetBIOS.</a:t>
                      </a:r>
                    </a:p>
                  </a:txBody>
                  <a:tcPr marL="126109" marR="75666" marT="75666" marB="75666"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12700" cmpd="sng">
                      <a:noFill/>
                      <a:prstDash val="solid"/>
                    </a:lnB>
                    <a:solidFill>
                      <a:srgbClr val="878E8B">
                        <a:alpha val="14902"/>
                      </a:srgbClr>
                    </a:solidFill>
                  </a:tcPr>
                </a:tc>
                <a:extLst>
                  <a:ext uri="{0D108BD9-81ED-4DB2-BD59-A6C34878D82A}">
                    <a16:rowId xmlns:a16="http://schemas.microsoft.com/office/drawing/2014/main" val="1028939055"/>
                  </a:ext>
                </a:extLst>
              </a:tr>
            </a:tbl>
          </a:graphicData>
        </a:graphic>
      </p:graphicFrame>
    </p:spTree>
    <p:extLst>
      <p:ext uri="{BB962C8B-B14F-4D97-AF65-F5344CB8AC3E}">
        <p14:creationId xmlns:p14="http://schemas.microsoft.com/office/powerpoint/2010/main" val="1809457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Protection from browser attacks</a:t>
            </a:r>
            <a:r>
              <a:rPr lang="en-GB" b="1" dirty="0">
                <a:solidFill>
                  <a:schemeClr val="tx1"/>
                </a:solidFill>
              </a:rPr>
              <a:t> </a:t>
            </a:r>
            <a:endParaRPr lang="en-IN" b="1" dirty="0">
              <a:solidFill>
                <a:schemeClr val="tx1"/>
              </a:solidFill>
            </a:endParaRPr>
          </a:p>
        </p:txBody>
      </p:sp>
      <p:pic>
        <p:nvPicPr>
          <p:cNvPr id="3" name="Picture 2">
            <a:extLst>
              <a:ext uri="{FF2B5EF4-FFF2-40B4-BE49-F238E27FC236}">
                <a16:creationId xmlns:a16="http://schemas.microsoft.com/office/drawing/2014/main" id="{00E30204-FE05-2628-330B-B934C2910837}"/>
              </a:ext>
            </a:extLst>
          </p:cNvPr>
          <p:cNvPicPr>
            <a:picLocks noChangeAspect="1"/>
          </p:cNvPicPr>
          <p:nvPr/>
        </p:nvPicPr>
        <p:blipFill>
          <a:blip r:embed="rId2"/>
          <a:stretch>
            <a:fillRect/>
          </a:stretch>
        </p:blipFill>
        <p:spPr>
          <a:xfrm>
            <a:off x="2527768" y="1432495"/>
            <a:ext cx="6872473" cy="4824007"/>
          </a:xfrm>
          <a:prstGeom prst="rect">
            <a:avLst/>
          </a:prstGeom>
        </p:spPr>
      </p:pic>
    </p:spTree>
    <p:extLst>
      <p:ext uri="{BB962C8B-B14F-4D97-AF65-F5344CB8AC3E}">
        <p14:creationId xmlns:p14="http://schemas.microsoft.com/office/powerpoint/2010/main" val="1859795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Introduction to System Security</a:t>
            </a:r>
          </a:p>
        </p:txBody>
      </p:sp>
      <p:pic>
        <p:nvPicPr>
          <p:cNvPr id="3" name="Picture 2">
            <a:extLst>
              <a:ext uri="{FF2B5EF4-FFF2-40B4-BE49-F238E27FC236}">
                <a16:creationId xmlns:a16="http://schemas.microsoft.com/office/drawing/2014/main" id="{9270571A-A7C3-9AC2-F5B3-15EA51ACF9E4}"/>
              </a:ext>
            </a:extLst>
          </p:cNvPr>
          <p:cNvPicPr>
            <a:picLocks noChangeAspect="1"/>
          </p:cNvPicPr>
          <p:nvPr/>
        </p:nvPicPr>
        <p:blipFill>
          <a:blip r:embed="rId2"/>
          <a:stretch>
            <a:fillRect/>
          </a:stretch>
        </p:blipFill>
        <p:spPr>
          <a:xfrm>
            <a:off x="2042159" y="1432495"/>
            <a:ext cx="6927734" cy="4883582"/>
          </a:xfrm>
          <a:prstGeom prst="rect">
            <a:avLst/>
          </a:prstGeom>
        </p:spPr>
      </p:pic>
    </p:spTree>
    <p:extLst>
      <p:ext uri="{BB962C8B-B14F-4D97-AF65-F5344CB8AC3E}">
        <p14:creationId xmlns:p14="http://schemas.microsoft.com/office/powerpoint/2010/main" val="2754512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15</a:t>
            </a:fld>
            <a:endParaRPr lang="en-US" dirty="0"/>
          </a:p>
        </p:txBody>
      </p:sp>
      <p:sp>
        <p:nvSpPr>
          <p:cNvPr id="3" name="Title 3">
            <a:extLst>
              <a:ext uri="{FF2B5EF4-FFF2-40B4-BE49-F238E27FC236}">
                <a16:creationId xmlns:a16="http://schemas.microsoft.com/office/drawing/2014/main" id="{AFE3A2AF-177E-45E6-A191-0F8523DB7FFA}"/>
              </a:ext>
            </a:extLst>
          </p:cNvPr>
          <p:cNvSpPr txBox="1">
            <a:spLocks/>
          </p:cNvSpPr>
          <p:nvPr/>
        </p:nvSpPr>
        <p:spPr>
          <a:xfrm>
            <a:off x="371155" y="583026"/>
            <a:ext cx="8671243" cy="830997"/>
          </a:xfrm>
          <a:prstGeom prst="rect">
            <a:avLst/>
          </a:prstGeom>
        </p:spPr>
        <p:txBody>
          <a:bodyP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GitHub link</a:t>
            </a:r>
          </a:p>
        </p:txBody>
      </p:sp>
      <p:sp>
        <p:nvSpPr>
          <p:cNvPr id="4" name="TextBox 3">
            <a:extLst>
              <a:ext uri="{FF2B5EF4-FFF2-40B4-BE49-F238E27FC236}">
                <a16:creationId xmlns:a16="http://schemas.microsoft.com/office/drawing/2014/main" id="{02517ADA-5E74-B277-470C-8D68DFDD3102}"/>
              </a:ext>
            </a:extLst>
          </p:cNvPr>
          <p:cNvSpPr txBox="1"/>
          <p:nvPr/>
        </p:nvSpPr>
        <p:spPr>
          <a:xfrm>
            <a:off x="990600" y="2819400"/>
            <a:ext cx="8051798" cy="461665"/>
          </a:xfrm>
          <a:prstGeom prst="rect">
            <a:avLst/>
          </a:prstGeom>
          <a:noFill/>
        </p:spPr>
        <p:txBody>
          <a:bodyPr wrap="square" rtlCol="0">
            <a:spAutoFit/>
          </a:bodyPr>
          <a:lstStyle/>
          <a:p>
            <a:r>
              <a:rPr lang="en-IN" sz="2400" dirty="0">
                <a:hlinkClick r:id="rId2"/>
              </a:rPr>
              <a:t>https://github.com/gamana29/Network-Port-Scanner.git</a:t>
            </a:r>
            <a:endParaRPr lang="en-IN" sz="2400" dirty="0"/>
          </a:p>
        </p:txBody>
      </p:sp>
    </p:spTree>
    <p:extLst>
      <p:ext uri="{BB962C8B-B14F-4D97-AF65-F5344CB8AC3E}">
        <p14:creationId xmlns:p14="http://schemas.microsoft.com/office/powerpoint/2010/main" val="3563231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purl.org/dc/elements/1.1/"/>
    <ds:schemaRef ds:uri="16c05727-aa75-4e4a-9b5f-8a80a1165891"/>
    <ds:schemaRef ds:uri="http://schemas.microsoft.com/office/2006/metadata/properties"/>
    <ds:schemaRef ds:uri="http://purl.org/dc/terms/"/>
    <ds:schemaRef ds:uri="71af3243-3dd4-4a8d-8c0d-dd76da1f02a5"/>
    <ds:schemaRef ds:uri="http://purl.org/dc/dcmitype/"/>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601</TotalTime>
  <Words>636</Words>
  <Application>Microsoft Office PowerPoint</Application>
  <PresentationFormat>Widescreen</PresentationFormat>
  <Paragraphs>63</Paragraphs>
  <Slides>16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Google Sans Text</vt:lpstr>
      <vt:lpstr>Trebuchet MS</vt:lpstr>
      <vt:lpstr>Wingdings</vt:lpstr>
      <vt:lpstr>Wingdings 3</vt:lpstr>
      <vt:lpstr>Facet</vt:lpstr>
      <vt:lpstr>Network Port Scanner</vt:lpstr>
      <vt:lpstr>PROBLEM  STATEMENT</vt:lpstr>
      <vt:lpstr>Project Description   </vt:lpstr>
      <vt:lpstr>Project Description  </vt:lpstr>
      <vt:lpstr>WHO ARE THE END USERS?</vt:lpstr>
      <vt:lpstr>Technology Used</vt:lpstr>
      <vt:lpstr>RESULTS </vt:lpstr>
      <vt:lpstr>RESULTS </vt:lpstr>
      <vt:lpstr>RESULTS </vt:lpstr>
      <vt:lpstr>RESULTS </vt:lpstr>
      <vt:lpstr>RESULTS </vt:lpstr>
      <vt:lpstr>RESULTS </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GAMANA CHIRUMAMILLA</cp:lastModifiedBy>
  <cp:revision>81</cp:revision>
  <dcterms:created xsi:type="dcterms:W3CDTF">2021-07-11T13:13:15Z</dcterms:created>
  <dcterms:modified xsi:type="dcterms:W3CDTF">2026-03-31T13:55:05Z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